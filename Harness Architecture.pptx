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Inner Y loop (blue): every trial, the agent edits Verilog, a testbench gates correctness, Yosys gives a seconds-fast estimate, and OpenROAD gives the real frequency. Outer X loop (orange): when scores stop improving, the harness rewrites its own config, versions it, and hands it back to the agent. MongoDB Atlas (green) holds everything: trials, harness versions with lineage, retrievable lessons, and LangGraph checkpoints. Right column: where it runs (EC2), how we prove it (LangSmith), and how judges see it (Vercel).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right column: each choice is there because of what it unlocks. Atlas is required to be a finalist, and it is also what makes the harness remember and evolve. The testbench gate is the anti-reward-hacking guardrail.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720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Two loops, one memory: the harness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12800" y="1371600"/>
            <a:ext cx="8585200" cy="1079500"/>
          </a:xfrm>
          <a:prstGeom prst="roundRect">
            <a:avLst>
              <a:gd name="adj" fmla="val 9412"/>
            </a:avLst>
          </a:prstGeom>
          <a:solidFill>
            <a:srgbClr val="FBEBDD"/>
          </a:solidFill>
          <a:ln/>
        </p:spPr>
      </p:sp>
      <p:sp>
        <p:nvSpPr>
          <p:cNvPr id="4" name="Text 2"/>
          <p:cNvSpPr/>
          <p:nvPr/>
        </p:nvSpPr>
        <p:spPr>
          <a:xfrm>
            <a:off x="965200" y="1460500"/>
            <a:ext cx="8528812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spc="100" kern="0" dirty="0">
                <a:solidFill>
                  <a:srgbClr val="A84A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X LOOP · ON PLATEAU, THE HARNESS REWRITES ITSELF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71550" y="1746250"/>
            <a:ext cx="2400300" cy="622300"/>
          </a:xfrm>
          <a:prstGeom prst="roundRect">
            <a:avLst>
              <a:gd name="adj" fmla="val 11224"/>
            </a:avLst>
          </a:prstGeom>
          <a:solidFill>
            <a:srgbClr val="FFFEFB"/>
          </a:solidFill>
          <a:ln w="12700">
            <a:solidFill>
              <a:srgbClr val="E8B89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4900" y="1828800"/>
            <a:ext cx="21976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720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Version + evaluate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04900" y="2054820"/>
            <a:ext cx="2197608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harness_versions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905250" y="1746250"/>
            <a:ext cx="2400300" cy="622300"/>
          </a:xfrm>
          <a:prstGeom prst="roundRect">
            <a:avLst>
              <a:gd name="adj" fmla="val 11224"/>
            </a:avLst>
          </a:prstGeom>
          <a:solidFill>
            <a:srgbClr val="FFFEFB"/>
          </a:solidFill>
          <a:ln w="12700">
            <a:solidFill>
              <a:srgbClr val="E8B89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38600" y="1828800"/>
            <a:ext cx="21976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720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Rewrite harness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038600" y="2054820"/>
            <a:ext cx="2197608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LLM via OpenRouter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38950" y="1746250"/>
            <a:ext cx="2400300" cy="622300"/>
          </a:xfrm>
          <a:prstGeom prst="roundRect">
            <a:avLst>
              <a:gd name="adj" fmla="val 11224"/>
            </a:avLst>
          </a:prstGeom>
          <a:solidFill>
            <a:srgbClr val="FFFEFB"/>
          </a:solidFill>
          <a:ln w="12700">
            <a:solidFill>
              <a:srgbClr val="E8B89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72300" y="1828800"/>
            <a:ext cx="21976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720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Detect plateau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72300" y="2054820"/>
            <a:ext cx="2197608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 · trial stats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2800" y="2540000"/>
            <a:ext cx="8585200" cy="1587500"/>
          </a:xfrm>
          <a:prstGeom prst="roundRect">
            <a:avLst>
              <a:gd name="adj" fmla="val 6400"/>
            </a:avLst>
          </a:prstGeom>
          <a:solidFill>
            <a:srgbClr val="E6EEFB"/>
          </a:solidFill>
          <a:ln/>
        </p:spPr>
      </p:sp>
      <p:sp>
        <p:nvSpPr>
          <p:cNvPr id="15" name="Shape 13"/>
          <p:cNvSpPr/>
          <p:nvPr/>
        </p:nvSpPr>
        <p:spPr>
          <a:xfrm>
            <a:off x="971550" y="2647950"/>
            <a:ext cx="1409700" cy="1003300"/>
          </a:xfrm>
          <a:prstGeom prst="roundRect">
            <a:avLst>
              <a:gd name="adj" fmla="val 6962"/>
            </a:avLst>
          </a:prstGeom>
          <a:solidFill>
            <a:srgbClr val="FFFEFB"/>
          </a:solidFill>
          <a:ln w="12700">
            <a:solidFill>
              <a:srgbClr val="A9C0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04900" y="2743200"/>
            <a:ext cx="1193800" cy="433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2"/>
              </a:lnSpc>
              <a:buNone/>
            </a:pPr>
            <a:r>
              <a:rPr lang="en-US" sz="1343" b="1" dirty="0">
                <a:solidFill>
                  <a:srgbClr val="1720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 edits RTL</a:t>
            </a:r>
            <a:endParaRPr lang="en-US" sz="1343" dirty="0"/>
          </a:p>
        </p:txBody>
      </p:sp>
      <p:sp>
        <p:nvSpPr>
          <p:cNvPr id="17" name="Text 15"/>
          <p:cNvSpPr/>
          <p:nvPr/>
        </p:nvSpPr>
        <p:spPr>
          <a:xfrm>
            <a:off x="1104900" y="3176885"/>
            <a:ext cx="1193800" cy="4045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11"/>
              </a:lnSpc>
              <a:buNone/>
            </a:pPr>
            <a:r>
              <a:rPr lang="en-US" sz="1163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LangGraph · OpenRouter</a:t>
            </a:r>
            <a:endParaRPr lang="en-US" sz="1163" dirty="0"/>
          </a:p>
        </p:txBody>
      </p:sp>
      <p:sp>
        <p:nvSpPr>
          <p:cNvPr id="18" name="Shape 16"/>
          <p:cNvSpPr/>
          <p:nvPr/>
        </p:nvSpPr>
        <p:spPr>
          <a:xfrm>
            <a:off x="2686050" y="2647950"/>
            <a:ext cx="1409700" cy="1003300"/>
          </a:xfrm>
          <a:prstGeom prst="roundRect">
            <a:avLst>
              <a:gd name="adj" fmla="val 6962"/>
            </a:avLst>
          </a:prstGeom>
          <a:solidFill>
            <a:srgbClr val="FFFEFB"/>
          </a:solidFill>
          <a:ln w="12700">
            <a:solidFill>
              <a:srgbClr val="A9C0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19400" y="2743200"/>
            <a:ext cx="11938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720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Testbench gate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819400" y="3195241"/>
            <a:ext cx="119380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Icarus Verilog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400550" y="2647950"/>
            <a:ext cx="1409700" cy="1003300"/>
          </a:xfrm>
          <a:prstGeom prst="roundRect">
            <a:avLst>
              <a:gd name="adj" fmla="val 6962"/>
            </a:avLst>
          </a:prstGeom>
          <a:solidFill>
            <a:srgbClr val="FFFEFB"/>
          </a:solidFill>
          <a:ln w="12700">
            <a:solidFill>
              <a:srgbClr val="A9C0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33900" y="2743200"/>
            <a:ext cx="1193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720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Tier 1 synth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33900" y="2981920"/>
            <a:ext cx="119380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Yosys · seconds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15050" y="2647950"/>
            <a:ext cx="1409700" cy="1003300"/>
          </a:xfrm>
          <a:prstGeom prst="roundRect">
            <a:avLst>
              <a:gd name="adj" fmla="val 6962"/>
            </a:avLst>
          </a:prstGeom>
          <a:solidFill>
            <a:srgbClr val="FFFEFB"/>
          </a:solidFill>
          <a:ln w="12700">
            <a:solidFill>
              <a:srgbClr val="A9C0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48400" y="2743200"/>
            <a:ext cx="1193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720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Tier 2 P&amp;R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48400" y="2981920"/>
            <a:ext cx="1193800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OpenROAD · minutes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829550" y="2647950"/>
            <a:ext cx="1409700" cy="1003300"/>
          </a:xfrm>
          <a:prstGeom prst="roundRect">
            <a:avLst>
              <a:gd name="adj" fmla="val 6962"/>
            </a:avLst>
          </a:prstGeom>
          <a:solidFill>
            <a:srgbClr val="FFFEFB"/>
          </a:solidFill>
          <a:ln w="12700">
            <a:solidFill>
              <a:srgbClr val="A9C0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62900" y="2743200"/>
            <a:ext cx="1193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720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Score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962900" y="2981920"/>
            <a:ext cx="1193800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fmax, gated on DRC = 0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40994" y="3733800"/>
            <a:ext cx="8528812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b="1" spc="100" kern="0" dirty="0">
                <a:solidFill>
                  <a:srgbClr val="1F4F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 LOOP · EVERY TRIAL: EDIT → VERIFY → MEASURE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12800" y="4318000"/>
            <a:ext cx="8585200" cy="1244600"/>
          </a:xfrm>
          <a:prstGeom prst="roundRect">
            <a:avLst>
              <a:gd name="adj" fmla="val 8163"/>
            </a:avLst>
          </a:prstGeom>
          <a:solidFill>
            <a:srgbClr val="E3F2E9"/>
          </a:solidFill>
          <a:ln/>
        </p:spPr>
      </p:sp>
      <p:sp>
        <p:nvSpPr>
          <p:cNvPr id="32" name="Text 30"/>
          <p:cNvSpPr/>
          <p:nvPr/>
        </p:nvSpPr>
        <p:spPr>
          <a:xfrm>
            <a:off x="840994" y="4394200"/>
            <a:ext cx="8528812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b="1" spc="100" kern="0" dirty="0">
                <a:solidFill>
                  <a:srgbClr val="1A6B4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MONGODB ATLAS · MEMORY, STATE, LINEAGE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71550" y="4679950"/>
            <a:ext cx="1943100" cy="774700"/>
          </a:xfrm>
          <a:prstGeom prst="roundRect">
            <a:avLst>
              <a:gd name="adj" fmla="val 9016"/>
            </a:avLst>
          </a:prstGeom>
          <a:solidFill>
            <a:srgbClr val="FFFEFB"/>
          </a:solidFill>
          <a:ln w="12700">
            <a:solidFill>
              <a:srgbClr val="9CCDB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04900" y="4762500"/>
            <a:ext cx="172720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720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lessons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104900" y="4973241"/>
            <a:ext cx="1727200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Vector Search recall of past fixes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079750" y="4679950"/>
            <a:ext cx="1943100" cy="774700"/>
          </a:xfrm>
          <a:prstGeom prst="roundRect">
            <a:avLst>
              <a:gd name="adj" fmla="val 9016"/>
            </a:avLst>
          </a:prstGeom>
          <a:solidFill>
            <a:srgbClr val="FFFEFB"/>
          </a:solidFill>
          <a:ln w="12700">
            <a:solidFill>
              <a:srgbClr val="9CCDB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13100" y="4762500"/>
            <a:ext cx="172720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720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checkpoints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213100" y="4973241"/>
            <a:ext cx="1727200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crash-safe suspend + resume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187950" y="4679950"/>
            <a:ext cx="1943100" cy="774700"/>
          </a:xfrm>
          <a:prstGeom prst="roundRect">
            <a:avLst>
              <a:gd name="adj" fmla="val 9016"/>
            </a:avLst>
          </a:prstGeom>
          <a:solidFill>
            <a:srgbClr val="FFFEFB"/>
          </a:solidFill>
          <a:ln w="12700">
            <a:solidFill>
              <a:srgbClr val="9CCDB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21300" y="4762500"/>
            <a:ext cx="172720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720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harness_versions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321300" y="4973241"/>
            <a:ext cx="172720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config, diff, lineage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296150" y="4679950"/>
            <a:ext cx="1943100" cy="774700"/>
          </a:xfrm>
          <a:prstGeom prst="roundRect">
            <a:avLst>
              <a:gd name="adj" fmla="val 9016"/>
            </a:avLst>
          </a:prstGeom>
          <a:solidFill>
            <a:srgbClr val="FFFEFB"/>
          </a:solidFill>
          <a:ln w="12700">
            <a:solidFill>
              <a:srgbClr val="9CCDB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29500" y="4762500"/>
            <a:ext cx="172720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720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trials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429500" y="4973241"/>
            <a:ext cx="1727200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attempt + its metrics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9652000" y="1371600"/>
            <a:ext cx="1727200" cy="1079500"/>
          </a:xfrm>
          <a:prstGeom prst="roundRect">
            <a:avLst>
              <a:gd name="adj" fmla="val 9412"/>
            </a:avLst>
          </a:prstGeom>
          <a:solidFill>
            <a:srgbClr val="E9EBEF"/>
          </a:solidFill>
          <a:ln/>
        </p:spPr>
      </p:sp>
      <p:sp>
        <p:nvSpPr>
          <p:cNvPr id="46" name="Text 44"/>
          <p:cNvSpPr/>
          <p:nvPr/>
        </p:nvSpPr>
        <p:spPr>
          <a:xfrm>
            <a:off x="9753600" y="1473200"/>
            <a:ext cx="157480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720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AWS EC2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9753600" y="1755080"/>
            <a:ext cx="1574800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Runs Tier 2 in Docker, many in parallel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9652000" y="2540000"/>
            <a:ext cx="1727200" cy="1587500"/>
          </a:xfrm>
          <a:prstGeom prst="roundRect">
            <a:avLst>
              <a:gd name="adj" fmla="val 6400"/>
            </a:avLst>
          </a:prstGeom>
          <a:solidFill>
            <a:srgbClr val="E9EBEF"/>
          </a:solidFill>
          <a:ln/>
        </p:spPr>
      </p:sp>
      <p:sp>
        <p:nvSpPr>
          <p:cNvPr id="49" name="Text 47"/>
          <p:cNvSpPr/>
          <p:nvPr/>
        </p:nvSpPr>
        <p:spPr>
          <a:xfrm>
            <a:off x="9753600" y="2641600"/>
            <a:ext cx="157480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720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LangSmith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9753600" y="2923480"/>
            <a:ext cx="1574800" cy="619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Traces every LLM call: proof the harness changed its reasoning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9652000" y="4318000"/>
            <a:ext cx="1727200" cy="1244600"/>
          </a:xfrm>
          <a:prstGeom prst="roundRect">
            <a:avLst>
              <a:gd name="adj" fmla="val 8163"/>
            </a:avLst>
          </a:prstGeom>
          <a:solidFill>
            <a:srgbClr val="E9EBEF"/>
          </a:solidFill>
          <a:ln/>
        </p:spPr>
      </p:sp>
      <p:sp>
        <p:nvSpPr>
          <p:cNvPr id="52" name="Text 50"/>
          <p:cNvSpPr/>
          <p:nvPr/>
        </p:nvSpPr>
        <p:spPr>
          <a:xfrm>
            <a:off x="9753600" y="4419600"/>
            <a:ext cx="157480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720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Vercel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9753600" y="4701480"/>
            <a:ext cx="1574800" cy="619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Next.js dashboard on Atlas: fmax by generation</a:t>
            </a:r>
            <a:endParaRPr lang="en-US" sz="1200" dirty="0"/>
          </a:p>
        </p:txBody>
      </p:sp>
      <p:pic>
        <p:nvPicPr>
          <p:cNvPr id="54" name="Image 0" descr="Arrows: the Y loop flows left to right through agent, testbench, synthesis, place and route and score; score feeds plateau detection, which flows right to left through harness rewrite and versioning back into the agent; score writes to trials, lessons feed the agent, trials feed the Vercel dashboard, and the Y loop is traced in LangSmith.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720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each piece does, and what it enables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12800" y="1286470"/>
            <a:ext cx="10566400" cy="0"/>
          </a:xfrm>
          <a:prstGeom prst="line">
            <a:avLst/>
          </a:prstGeom>
          <a:noFill/>
          <a:ln w="12700">
            <a:solidFill>
              <a:srgbClr val="141413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9150" y="1280120"/>
            <a:ext cx="0" cy="4105672"/>
          </a:xfrm>
          <a:prstGeom prst="line">
            <a:avLst/>
          </a:prstGeom>
          <a:noFill/>
          <a:ln w="12700">
            <a:solidFill>
              <a:srgbClr val="141413">
                <a:alpha val="22000"/>
              </a:srgbClr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27100" y="1369020"/>
          <a:ext cx="10350500" cy="3940572"/>
        </p:xfrm>
        <a:graphic>
          <a:graphicData uri="http://schemas.openxmlformats.org/drawingml/2006/table">
            <a:tbl>
              <a:tblPr/>
              <a:tblGrid>
                <a:gridCol w="2587625"/>
                <a:gridCol w="3415665"/>
                <a:gridCol w="4347210"/>
              </a:tblGrid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5F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Technology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161D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61D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5F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Does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61D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D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61D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5F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Enables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61D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D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61D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A"/>
                    </a:solidFill>
                  </a:tcPr>
                </a:tc>
              </a:tr>
              <a:tr h="545902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0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MongoDB Atlas + Vector Search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5C1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D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C1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0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Stores trials, harness versions, lessons, checkpoints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5C1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C1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D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C1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0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Memory across hundreds of runs, full lineage, crash-safe resume, recall of similar past fixes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5C1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C1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D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C1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E9"/>
                    </a:solidFill>
                  </a:tcPr>
                </a:tc>
              </a:tr>
              <a:tr h="545902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0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LangGraph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C1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0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Runs both loops as one state graph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C1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0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Clean plateau → rewrite hand-off; state checkpointed to Atlas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C1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</a:tr>
              <a:tr h="545902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0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OpenRouter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0BE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E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0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One API to many models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0BE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E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E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0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 model per loop; swap or compare models without code changes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0BE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E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E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8"/>
                    </a:solidFill>
                  </a:tcPr>
                </a:tc>
              </a:tr>
              <a:tr h="545902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0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Icarus Verilog + Yosys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BE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0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Testbench gate, then synthesis in seconds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BE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0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Fast-but-wrong designs score zero; a cheap filter before slow runs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BE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</a:tr>
              <a:tr h="545902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0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OpenROAD on AWS EC2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0BE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E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0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Full place and route (Nangate45) in Docker, in parallel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0BE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E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E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0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Hard metrics (fmax, DRC) at dozens of runs per hour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0BE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E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E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8"/>
                    </a:solidFill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0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LangSmith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BE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0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Traces every LLM call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BE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0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Evidence of how the harness changed its own reasoning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BE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</a:tr>
              <a:tr h="545902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0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Vercel + Next.js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0BE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E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0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Dashboard over Atlas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0BE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E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E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0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Public demo link; fmax-by-generation chart and harness diffs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0BE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E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E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Harness Architecture</dc:title>
  <dc:subject>PptxGenJS Presentation</dc:subject>
  <dc:creator>PptxGenJS</dc:creator>
  <cp:lastModifiedBy>PptxGenJS</cp:lastModifiedBy>
  <cp:revision>1</cp:revision>
  <dcterms:created xsi:type="dcterms:W3CDTF">2026-09-25T23:30:55Z</dcterms:created>
  <dcterms:modified xsi:type="dcterms:W3CDTF">2026-09-25T23:30:55Z</dcterms:modified>
</cp:coreProperties>
</file>